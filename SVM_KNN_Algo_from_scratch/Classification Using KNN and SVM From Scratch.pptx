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EFB737F-8393-4CB8-ADA4-4DB973D5B199}">
          <p14:sldIdLst>
            <p14:sldId id="257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3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Autofit/>
          </a:bodyPr>
          <a:lstStyle/>
          <a:p>
            <a:r>
              <a:rPr lang="en-US" sz="4800" dirty="0"/>
              <a:t>Classification Using KNN and SVM From Scratch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Tools Used:</a:t>
            </a:r>
            <a:br>
              <a:rPr lang="en-US" dirty="0"/>
            </a:br>
            <a:r>
              <a:rPr lang="en-US" dirty="0"/>
              <a:t>Python, NumPy, scikit-learn (only for utilities)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918" y="0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C016F23-53E4-3AAA-7015-D9AF38F2557A}"/>
              </a:ext>
            </a:extLst>
          </p:cNvPr>
          <p:cNvSpPr txBox="1"/>
          <p:nvPr/>
        </p:nvSpPr>
        <p:spPr>
          <a:xfrm>
            <a:off x="8560468" y="6069932"/>
            <a:ext cx="29826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-Ved Dhanokar </a:t>
            </a:r>
          </a:p>
          <a:p>
            <a:r>
              <a:rPr lang="en-US" dirty="0"/>
              <a:t>-</a:t>
            </a:r>
            <a:r>
              <a:rPr lang="en-IN" dirty="0"/>
              <a:t>ved.g37python@gmail.com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6" name="AutoShape 2" descr="Generated image">
            <a:extLst>
              <a:ext uri="{FF2B5EF4-FFF2-40B4-BE49-F238E27FC236}">
                <a16:creationId xmlns:a16="http://schemas.microsoft.com/office/drawing/2014/main" id="{C04275B2-C9BD-DA95-15A1-D2BE032E23C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40AD5-9322-34AF-CAEC-3FBAB494A572}"/>
              </a:ext>
            </a:extLst>
          </p:cNvPr>
          <p:cNvSpPr txBox="1"/>
          <p:nvPr/>
        </p:nvSpPr>
        <p:spPr>
          <a:xfrm>
            <a:off x="403058" y="3056021"/>
            <a:ext cx="36215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SVM vs KNN</a:t>
            </a:r>
            <a:endParaRPr lang="en-IN" sz="4800" b="1" dirty="0"/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8A40E-71AD-F00D-6BD2-67F1E7F9D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700" b="1" dirty="0"/>
              <a:t>K-Nearest Neighbors (KNN)</a:t>
            </a:r>
            <a:r>
              <a:rPr lang="en-US" sz="3700" dirty="0"/>
              <a:t> </a:t>
            </a:r>
            <a:r>
              <a:rPr lang="en-US" sz="3700" b="1" dirty="0"/>
              <a:t>is a distance-based classification algorithm</a:t>
            </a:r>
            <a:r>
              <a:rPr lang="en-US" sz="3700" dirty="0"/>
              <a:t>.</a:t>
            </a:r>
            <a:endParaRPr lang="en-IN" sz="3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5CC8D-FAEA-AEF9-ED6D-CBDDA5A9F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b="1" dirty="0"/>
              <a:t>Logical Flow: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The algorithm stores all training data points</a:t>
            </a:r>
          </a:p>
          <a:p>
            <a:r>
              <a:rPr lang="en-US" dirty="0"/>
              <a:t>For a new (test) data point:</a:t>
            </a:r>
          </a:p>
          <a:p>
            <a:pPr lvl="1"/>
            <a:r>
              <a:rPr lang="en-US" dirty="0"/>
              <a:t>It calculates the distance to every training point</a:t>
            </a:r>
          </a:p>
          <a:p>
            <a:pPr lvl="1"/>
            <a:r>
              <a:rPr lang="en-US" dirty="0"/>
              <a:t>Identifies the </a:t>
            </a:r>
            <a:r>
              <a:rPr lang="en-US" b="1" dirty="0"/>
              <a:t>K closest neighbors</a:t>
            </a:r>
            <a:endParaRPr lang="en-US" dirty="0"/>
          </a:p>
          <a:p>
            <a:r>
              <a:rPr lang="en-US" dirty="0"/>
              <a:t>The class label is decided by </a:t>
            </a:r>
            <a:r>
              <a:rPr lang="en-US" b="1" dirty="0"/>
              <a:t>majority voting</a:t>
            </a:r>
            <a:r>
              <a:rPr lang="en-US" dirty="0"/>
              <a:t> among neighbors</a:t>
            </a:r>
          </a:p>
          <a:p>
            <a:r>
              <a:rPr lang="en-US" b="1" dirty="0"/>
              <a:t>Important Characteristics: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No learning phase</a:t>
            </a:r>
          </a:p>
          <a:p>
            <a:r>
              <a:rPr lang="en-US" dirty="0"/>
              <a:t>Decision is made at prediction time</a:t>
            </a:r>
          </a:p>
          <a:p>
            <a:pPr>
              <a:spcBef>
                <a:spcPts val="0"/>
              </a:spcBef>
            </a:pPr>
            <a:r>
              <a:rPr lang="en-US" dirty="0"/>
              <a:t>Heavily dependent on distance calculation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034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C0BA0-9D52-50C0-B589-30ABB9E65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KNN – Key Logic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84349-2D4D-7482-2E92-4A921C316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b="1" dirty="0"/>
              <a:t>Distance Logic:</a:t>
            </a:r>
            <a:endParaRPr lang="en-US" dirty="0"/>
          </a:p>
          <a:p>
            <a:r>
              <a:rPr lang="en-US" dirty="0"/>
              <a:t>Similar data points lie closer in feature space</a:t>
            </a:r>
          </a:p>
          <a:p>
            <a:pPr>
              <a:spcBef>
                <a:spcPts val="0"/>
              </a:spcBef>
            </a:pPr>
            <a:r>
              <a:rPr lang="en-US" dirty="0"/>
              <a:t>Euclidean distance is used to measure similarity</a:t>
            </a:r>
          </a:p>
          <a:p>
            <a:r>
              <a:rPr lang="en-US" b="1" dirty="0"/>
              <a:t>Decision Logic:</a:t>
            </a:r>
            <a:endParaRPr lang="en-US" dirty="0"/>
          </a:p>
          <a:p>
            <a:r>
              <a:rPr lang="en-US" dirty="0"/>
              <a:t>Smaller distance → higher influence</a:t>
            </a:r>
          </a:p>
          <a:p>
            <a:pPr>
              <a:spcBef>
                <a:spcPts val="0"/>
              </a:spcBef>
            </a:pPr>
            <a:r>
              <a:rPr lang="en-US" dirty="0"/>
              <a:t>Class with highest frequency among neighbors wins</a:t>
            </a:r>
          </a:p>
          <a:p>
            <a:r>
              <a:rPr lang="en-US" b="1" dirty="0"/>
              <a:t>Strengths:</a:t>
            </a:r>
            <a:endParaRPr lang="en-US" dirty="0"/>
          </a:p>
          <a:p>
            <a:r>
              <a:rPr lang="en-US" dirty="0"/>
              <a:t>Simple and intuitive</a:t>
            </a:r>
          </a:p>
          <a:p>
            <a:pPr>
              <a:spcBef>
                <a:spcPts val="0"/>
              </a:spcBef>
            </a:pPr>
            <a:r>
              <a:rPr lang="en-US" dirty="0"/>
              <a:t>Works well for small, clean datasets</a:t>
            </a:r>
          </a:p>
          <a:p>
            <a:r>
              <a:rPr lang="en-US" b="1" dirty="0"/>
              <a:t>Limitations:</a:t>
            </a:r>
            <a:endParaRPr lang="en-US" dirty="0"/>
          </a:p>
          <a:p>
            <a:r>
              <a:rPr lang="en-US" dirty="0"/>
              <a:t>Slow prediction for large datasets</a:t>
            </a:r>
          </a:p>
          <a:p>
            <a:pPr>
              <a:spcBef>
                <a:spcPts val="0"/>
              </a:spcBef>
            </a:pPr>
            <a:r>
              <a:rPr lang="en-US" dirty="0"/>
              <a:t>Sensitive to noise and feature scaling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9500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E2B0B-9DAD-F733-5E22-6F8554149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SVM – Core Working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40F04-816A-6DCC-1E66-FE73BBA51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b="1" dirty="0"/>
              <a:t>Logical Goal: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 a boundary that separates classes</a:t>
            </a:r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Maximize the </a:t>
            </a:r>
            <a:r>
              <a:rPr lang="en-US" b="1" dirty="0"/>
              <a:t>distance (margin)</a:t>
            </a:r>
            <a:r>
              <a:rPr lang="en-US" dirty="0"/>
              <a:t> between classes</a:t>
            </a:r>
          </a:p>
          <a:p>
            <a:r>
              <a:rPr lang="en-US" b="1" dirty="0"/>
              <a:t>Decision Logic: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points closest to the boundary are </a:t>
            </a:r>
            <a:r>
              <a:rPr lang="en-US" b="1" dirty="0"/>
              <a:t>support vectors</a:t>
            </a:r>
            <a:endParaRPr lang="en-US" dirty="0"/>
          </a:p>
          <a:p>
            <a:pPr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/>
              <a:t>Only these points influence the final model</a:t>
            </a:r>
          </a:p>
          <a:p>
            <a:endParaRPr lang="en-US" b="1" dirty="0"/>
          </a:p>
          <a:p>
            <a:r>
              <a:rPr lang="en-US" b="1" dirty="0"/>
              <a:t>Key Property: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model focuses on </a:t>
            </a:r>
            <a:r>
              <a:rPr lang="en-US" b="1" dirty="0"/>
              <a:t>global structure</a:t>
            </a:r>
            <a:r>
              <a:rPr lang="en-US" dirty="0"/>
              <a:t>, not local neighbors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150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46838-D159-13A1-15BE-179589B62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SVM – Optimization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BC8E5-E608-AFDB-87CD-CB8EBDF9D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/>
          <a:lstStyle/>
          <a:p>
            <a:r>
              <a:rPr lang="en-US" b="1" dirty="0"/>
              <a:t>Mathematical Logic:</a:t>
            </a:r>
            <a:endParaRPr lang="en-US" dirty="0"/>
          </a:p>
          <a:p>
            <a:r>
              <a:rPr lang="en-US" dirty="0"/>
              <a:t>SVM tries to correctly classify points while keeping the margin wide</a:t>
            </a:r>
          </a:p>
          <a:p>
            <a:pPr>
              <a:spcBef>
                <a:spcPts val="0"/>
              </a:spcBef>
            </a:pPr>
            <a:r>
              <a:rPr lang="en-US" dirty="0"/>
              <a:t>Misclassified or boundary-violating points are penalized</a:t>
            </a:r>
          </a:p>
          <a:p>
            <a:r>
              <a:rPr lang="en-US" b="1" dirty="0"/>
              <a:t>Learning Logic:</a:t>
            </a:r>
            <a:endParaRPr lang="en-US" dirty="0"/>
          </a:p>
          <a:p>
            <a:r>
              <a:rPr lang="en-US" dirty="0"/>
              <a:t>Uses an iterative optimization process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Adjusts weights and bias to:</a:t>
            </a:r>
          </a:p>
          <a:p>
            <a:pPr lvl="1">
              <a:spcBef>
                <a:spcPts val="0"/>
              </a:spcBef>
            </a:pPr>
            <a:r>
              <a:rPr lang="en-US" dirty="0"/>
              <a:t>reduce classification error</a:t>
            </a:r>
          </a:p>
          <a:p>
            <a:pPr lvl="1">
              <a:spcBef>
                <a:spcPts val="0"/>
              </a:spcBef>
            </a:pPr>
            <a:r>
              <a:rPr lang="en-US" dirty="0"/>
              <a:t>increase margin stability</a:t>
            </a:r>
          </a:p>
          <a:p>
            <a:r>
              <a:rPr lang="en-US" b="1" dirty="0"/>
              <a:t>Why This Works Well:</a:t>
            </a:r>
            <a:endParaRPr lang="en-US" dirty="0"/>
          </a:p>
          <a:p>
            <a:r>
              <a:rPr lang="en-US" dirty="0"/>
              <a:t>Prevents overfitting</a:t>
            </a:r>
          </a:p>
          <a:p>
            <a:pPr>
              <a:spcBef>
                <a:spcPts val="0"/>
              </a:spcBef>
            </a:pPr>
            <a:r>
              <a:rPr lang="en-US" dirty="0"/>
              <a:t>Performs well in high-dimensional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3226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437E4-5E7D-460B-70C1-BC4B6EE48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Comparison &amp; Conclusion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60E2F91-C152-0A93-D3E2-D3D5C77E72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4618360"/>
              </p:ext>
            </p:extLst>
          </p:nvPr>
        </p:nvGraphicFramePr>
        <p:xfrm>
          <a:off x="1096963" y="2129589"/>
          <a:ext cx="10058400" cy="2267952"/>
        </p:xfrm>
        <a:graphic>
          <a:graphicData uri="http://schemas.openxmlformats.org/drawingml/2006/table">
            <a:tbl>
              <a:tblPr/>
              <a:tblGrid>
                <a:gridCol w="3352800">
                  <a:extLst>
                    <a:ext uri="{9D8B030D-6E8A-4147-A177-3AD203B41FA5}">
                      <a16:colId xmlns:a16="http://schemas.microsoft.com/office/drawing/2014/main" val="210979283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812494108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934915659"/>
                    </a:ext>
                  </a:extLst>
                </a:gridCol>
              </a:tblGrid>
              <a:tr h="377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KNN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SVM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291938"/>
                  </a:ext>
                </a:extLst>
              </a:tr>
              <a:tr h="377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Learning Style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Lazy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Eager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4219545"/>
                  </a:ext>
                </a:extLst>
              </a:tr>
              <a:tr h="377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Decision Basis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Local neighbors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Global margin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805046"/>
                  </a:ext>
                </a:extLst>
              </a:tr>
              <a:tr h="377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Training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276289"/>
                  </a:ext>
                </a:extLst>
              </a:tr>
              <a:tr h="377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Prediction Speed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916516"/>
                  </a:ext>
                </a:extLst>
              </a:tr>
              <a:tr h="3779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tx1"/>
                          </a:solidFill>
                        </a:rPr>
                        <a:t>Noise Sensitivity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11576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BD17F87C-A233-87F1-CF24-A33D861A6413}"/>
              </a:ext>
            </a:extLst>
          </p:cNvPr>
          <p:cNvSpPr txBox="1"/>
          <p:nvPr/>
        </p:nvSpPr>
        <p:spPr>
          <a:xfrm>
            <a:off x="1096963" y="4919680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Franklin Gothic Book (Body)"/>
              </a:rPr>
              <a:t>KNN makes decisions based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Franklin Gothic Book (Body)"/>
              </a:rPr>
              <a:t>local similarity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Franklin Gothic Book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Franklin Gothic Book (Body)"/>
              </a:rPr>
              <a:t>SVM makes decisions based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Franklin Gothic Book (Body)"/>
              </a:rPr>
              <a:t>global optimization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Franklin Gothic Book (Body)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Franklin Gothic Book (Body)"/>
              </a:rPr>
              <a:t>Synthetic data helps clearly observe algorithm behavior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Franklin Gothic Book (Body)"/>
              </a:rPr>
              <a:t>SVM is generally more stable and reliable</a:t>
            </a:r>
          </a:p>
        </p:txBody>
      </p:sp>
    </p:spTree>
    <p:extLst>
      <p:ext uri="{BB962C8B-B14F-4D97-AF65-F5344CB8AC3E}">
        <p14:creationId xmlns:p14="http://schemas.microsoft.com/office/powerpoint/2010/main" val="3365797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61B86-379F-478C-B1F1-996A9CF4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 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9A02C6-94A5-9FDF-9CA4-9AF2BAFD9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05572" y="2108200"/>
            <a:ext cx="5641182" cy="376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5788598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{29DAAFFC-8D5D-411D-833A-D3617AE04778}tf56160789_win32</Template>
  <TotalTime>46</TotalTime>
  <Words>336</Words>
  <Application>Microsoft Office PowerPoint</Application>
  <PresentationFormat>Widescreen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Bookman Old Style</vt:lpstr>
      <vt:lpstr>Calibri</vt:lpstr>
      <vt:lpstr>Franklin Gothic Book</vt:lpstr>
      <vt:lpstr>Franklin Gothic Book (Body)</vt:lpstr>
      <vt:lpstr>Custom</vt:lpstr>
      <vt:lpstr>Classification Using KNN and SVM From Scratch</vt:lpstr>
      <vt:lpstr>K-Nearest Neighbors (KNN) is a distance-based classification algorithm.</vt:lpstr>
      <vt:lpstr>KNN – Key Logic </vt:lpstr>
      <vt:lpstr>SVM – Core Working Logic</vt:lpstr>
      <vt:lpstr>SVM – Optimization Logic</vt:lpstr>
      <vt:lpstr>Comparison &amp; Conclusion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ved dhanokar</dc:creator>
  <cp:lastModifiedBy>ved dhanokar</cp:lastModifiedBy>
  <cp:revision>4</cp:revision>
  <dcterms:created xsi:type="dcterms:W3CDTF">2026-01-03T16:43:00Z</dcterms:created>
  <dcterms:modified xsi:type="dcterms:W3CDTF">2026-01-03T17:29:26Z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